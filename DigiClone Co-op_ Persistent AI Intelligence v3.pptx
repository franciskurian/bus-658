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utfit"/>
      <p:regular r:id="rId35"/>
      <p:bold r:id="rId36"/>
    </p:embeddedFont>
    <p:embeddedFont>
      <p:font typeface="Urbanist SemiBold"/>
      <p:regular r:id="rId37"/>
      <p:bold r:id="rId38"/>
      <p:italic r:id="rId39"/>
      <p:boldItalic r:id="rId40"/>
    </p:embeddedFont>
    <p:embeddedFont>
      <p:font typeface="Urbanist"/>
      <p:regular r:id="rId41"/>
      <p:bold r:id="rId42"/>
      <p:italic r:id="rId43"/>
      <p:boldItalic r:id="rId44"/>
    </p:embeddedFont>
    <p:embeddedFont>
      <p:font typeface="Outfit SemiBol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Urbanist-bold.fntdata"/><Relationship Id="rId41" Type="http://schemas.openxmlformats.org/officeDocument/2006/relationships/font" Target="fonts/Urbanist-regular.fntdata"/><Relationship Id="rId22" Type="http://schemas.openxmlformats.org/officeDocument/2006/relationships/slide" Target="slides/slide16.xml"/><Relationship Id="rId44" Type="http://schemas.openxmlformats.org/officeDocument/2006/relationships/font" Target="fonts/Urbanist-boldItalic.fntdata"/><Relationship Id="rId21" Type="http://schemas.openxmlformats.org/officeDocument/2006/relationships/slide" Target="slides/slide15.xml"/><Relationship Id="rId43" Type="http://schemas.openxmlformats.org/officeDocument/2006/relationships/font" Target="fonts/Urbanist-italic.fntdata"/><Relationship Id="rId24" Type="http://schemas.openxmlformats.org/officeDocument/2006/relationships/slide" Target="slides/slide18.xml"/><Relationship Id="rId46" Type="http://schemas.openxmlformats.org/officeDocument/2006/relationships/font" Target="fonts/OutfitSemiBold-bold.fntdata"/><Relationship Id="rId23" Type="http://schemas.openxmlformats.org/officeDocument/2006/relationships/slide" Target="slides/slide17.xml"/><Relationship Id="rId45" Type="http://schemas.openxmlformats.org/officeDocument/2006/relationships/font" Target="fonts/Outfi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schemas.openxmlformats.org/officeDocument/2006/relationships/font" Target="fonts/Outfit-regular.fnt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37" Type="http://schemas.openxmlformats.org/officeDocument/2006/relationships/font" Target="fonts/Urbanist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Outfit-bold.fntdata"/><Relationship Id="rId17" Type="http://schemas.openxmlformats.org/officeDocument/2006/relationships/slide" Target="slides/slide11.xml"/><Relationship Id="rId39" Type="http://schemas.openxmlformats.org/officeDocument/2006/relationships/font" Target="fonts/Urbanist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15e0f26b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15e0f26b5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15e0f26b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15e0f26b5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15e0f26b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15e0f26b5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15e0f26b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15e0f26b5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15e0f26b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15e0f26b5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91dac990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91dac990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15e0f26b5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15e0f26b5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1ea4d121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1ea4d1213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1ea4d12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1ea4d12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1ea4d12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e1ea4d121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1ea4d121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1ea4d1213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1ea4d121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1ea4d1213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1ea4d121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1ea4d121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1ea4d121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e1ea4d121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1ea4d121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1ea4d1213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1ea4d121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1ea4d1213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1ea4d12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e1ea4d1213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1595437" y="1988343"/>
            <a:ext cx="90011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DigiClone Co-op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1809750" y="3121818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Transforming Business Digital Footprints into Persistent AI Agents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1809750" y="4417218"/>
            <a:ext cx="85725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4285F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Agentic AI Platform</a:t>
            </a:r>
            <a:r>
              <a:rPr b="0" i="0" lang="en-US" sz="2325" u="none" cap="none" strike="noStrike">
                <a:solidFill>
                  <a:srgbClr val="4285F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· Co-operative Ownership </a:t>
            </a:r>
            <a:endParaRPr sz="2300"/>
          </a:p>
        </p:txBody>
      </p:sp>
      <p:sp>
        <p:nvSpPr>
          <p:cNvPr id="163" name="Google Shape;163;p25"/>
          <p:cNvSpPr txBox="1"/>
          <p:nvPr/>
        </p:nvSpPr>
        <p:spPr>
          <a:xfrm>
            <a:off x="2253438" y="5350300"/>
            <a:ext cx="768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Francis Kurian</a:t>
            </a:r>
            <a:endParaRPr sz="24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Final Project: BUS-658</a:t>
            </a:r>
            <a:endParaRPr sz="240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7868"/>
            <a:ext cx="5286375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1356"/>
            <a:ext cx="25717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3231356"/>
            <a:ext cx="25717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45806"/>
            <a:ext cx="257175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6125" y="4545806"/>
            <a:ext cx="2571750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571500" y="1585718"/>
            <a:ext cx="52863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80% of data generated around a business </a:t>
            </a:r>
            <a:endParaRPr b="1" i="0" sz="2125" u="none" cap="none" strike="noStrike">
              <a:solidFill>
                <a:srgbClr val="4285F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 unstructured—and </a:t>
            </a:r>
            <a:r>
              <a:rPr lang="en-US" sz="21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barely used</a:t>
            </a:r>
            <a:r>
              <a:rPr b="0" i="0" lang="en-US" sz="21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100"/>
          </a:p>
        </p:txBody>
      </p:sp>
      <p:sp>
        <p:nvSpPr>
          <p:cNvPr id="175" name="Google Shape;175;p26"/>
          <p:cNvSpPr txBox="1"/>
          <p:nvPr/>
        </p:nvSpPr>
        <p:spPr>
          <a:xfrm>
            <a:off x="723900" y="3536156"/>
            <a:ext cx="22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📰 News &amp; Media</a:t>
            </a:r>
            <a:endParaRPr sz="2500"/>
          </a:p>
        </p:txBody>
      </p:sp>
      <p:sp>
        <p:nvSpPr>
          <p:cNvPr id="176" name="Google Shape;176;p26"/>
          <p:cNvSpPr txBox="1"/>
          <p:nvPr/>
        </p:nvSpPr>
        <p:spPr>
          <a:xfrm>
            <a:off x="723900" y="3917156"/>
            <a:ext cx="2267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WSJ, Reuters, AP</a:t>
            </a:r>
            <a:endParaRPr sz="2100"/>
          </a:p>
        </p:txBody>
      </p:sp>
      <p:sp>
        <p:nvSpPr>
          <p:cNvPr id="177" name="Google Shape;177;p26"/>
          <p:cNvSpPr txBox="1"/>
          <p:nvPr/>
        </p:nvSpPr>
        <p:spPr>
          <a:xfrm>
            <a:off x="3438525" y="3536156"/>
            <a:ext cx="22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💬 Social Media</a:t>
            </a:r>
            <a:endParaRPr sz="2500"/>
          </a:p>
        </p:txBody>
      </p:sp>
      <p:sp>
        <p:nvSpPr>
          <p:cNvPr id="178" name="Google Shape;178;p26"/>
          <p:cNvSpPr txBox="1"/>
          <p:nvPr/>
        </p:nvSpPr>
        <p:spPr>
          <a:xfrm>
            <a:off x="3438525" y="3917156"/>
            <a:ext cx="2267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X, LinkedIn, Instagram</a:t>
            </a:r>
            <a:endParaRPr sz="2100"/>
          </a:p>
        </p:txBody>
      </p:sp>
      <p:sp>
        <p:nvSpPr>
          <p:cNvPr id="179" name="Google Shape;179;p26"/>
          <p:cNvSpPr txBox="1"/>
          <p:nvPr/>
        </p:nvSpPr>
        <p:spPr>
          <a:xfrm>
            <a:off x="723900" y="4850606"/>
            <a:ext cx="22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⭐ Reviews</a:t>
            </a:r>
            <a:endParaRPr sz="2500"/>
          </a:p>
        </p:txBody>
      </p:sp>
      <p:sp>
        <p:nvSpPr>
          <p:cNvPr id="180" name="Google Shape;180;p26"/>
          <p:cNvSpPr txBox="1"/>
          <p:nvPr/>
        </p:nvSpPr>
        <p:spPr>
          <a:xfrm>
            <a:off x="723900" y="5231606"/>
            <a:ext cx="2267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Yelp, Google, BBB</a:t>
            </a:r>
            <a:endParaRPr sz="2100"/>
          </a:p>
        </p:txBody>
      </p:sp>
      <p:sp>
        <p:nvSpPr>
          <p:cNvPr id="181" name="Google Shape;181;p26"/>
          <p:cNvSpPr txBox="1"/>
          <p:nvPr/>
        </p:nvSpPr>
        <p:spPr>
          <a:xfrm>
            <a:off x="3438525" y="4850606"/>
            <a:ext cx="226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📋 Filings</a:t>
            </a:r>
            <a:endParaRPr sz="2500"/>
          </a:p>
        </p:txBody>
      </p:sp>
      <p:sp>
        <p:nvSpPr>
          <p:cNvPr id="182" name="Google Shape;182;p26"/>
          <p:cNvSpPr txBox="1"/>
          <p:nvPr/>
        </p:nvSpPr>
        <p:spPr>
          <a:xfrm>
            <a:off x="3438525" y="5231606"/>
            <a:ext cx="2267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SEC, Court Records</a:t>
            </a:r>
            <a:endParaRPr sz="2100"/>
          </a:p>
        </p:txBody>
      </p:sp>
      <p:sp>
        <p:nvSpPr>
          <p:cNvPr id="183" name="Google Shape;183;p2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Invisible 80%: Unstructured Data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0750" y="1774000"/>
            <a:ext cx="5619750" cy="410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1725"/>
            <a:ext cx="35242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71725"/>
            <a:ext cx="35242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371725"/>
            <a:ext cx="35242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866775" y="3314700"/>
            <a:ext cx="30803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Volume Problem</a:t>
            </a:r>
            <a:endParaRPr/>
          </a:p>
        </p:txBody>
      </p:sp>
      <p:sp>
        <p:nvSpPr>
          <p:cNvPr id="195" name="Google Shape;195;p27"/>
          <p:cNvSpPr txBox="1"/>
          <p:nvPr/>
        </p:nvSpPr>
        <p:spPr>
          <a:xfrm>
            <a:off x="866775" y="3781425"/>
            <a:ext cx="2933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~500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Quintillion bytes of unstructured data created globally every day. 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4629150" y="3314700"/>
            <a:ext cx="30803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Capability Problem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4629150" y="3781425"/>
            <a:ext cx="2933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Scaling requires massive Data Engineering expertise.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8391525" y="3314700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Quantification Problem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8391525" y="3781425"/>
            <a:ext cx="2933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lang="en-US" sz="14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ranslating into credible </a:t>
            </a:r>
            <a:r>
              <a:rPr lang="en-US" sz="14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signals</a:t>
            </a:r>
            <a:r>
              <a:rPr lang="en-US" sz="14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subjective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 Tweet ≠ a WSJ article.</a:t>
            </a:r>
            <a:endParaRPr/>
          </a:p>
        </p:txBody>
      </p:sp>
      <p:pic>
        <p:nvPicPr>
          <p:cNvPr descr="image.png" id="200" name="Google Shape;2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955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695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1525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Capability Gap</a:t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571500" y="1341025"/>
            <a:ext cx="114015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4285F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There are hidden useful signals in unstructured data. But there are problems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/>
        </p:nvSpPr>
        <p:spPr>
          <a:xfrm>
            <a:off x="295275" y="1968847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The Solution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295275" y="2835622"/>
            <a:ext cx="1160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DigiClone </a:t>
            </a:r>
            <a:r>
              <a:rPr b="1" i="0" lang="en-US" sz="63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Co-op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2286000" y="4035772"/>
            <a:ext cx="76200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Platform that t</a:t>
            </a: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urns fragmented digital footprints into standardized Agentic intelligence.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66261"/>
            <a:ext cx="52387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525077"/>
            <a:ext cx="52387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 txBox="1"/>
          <p:nvPr/>
        </p:nvSpPr>
        <p:spPr>
          <a:xfrm>
            <a:off x="866775" y="4820352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Unified Cognitive Layer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866775" y="5296602"/>
            <a:ext cx="4648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Every business is represented by a single, persistent </a:t>
            </a:r>
            <a:r>
              <a:rPr b="1" i="0" lang="en-US" sz="15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DigiClone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It gathers every pie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 of information available, synthesize and stores it and use them in future interactions. </a:t>
            </a:r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6677025" y="4820352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Intelligent Interpretation</a:t>
            </a:r>
            <a:endParaRPr/>
          </a:p>
        </p:txBody>
      </p:sp>
      <p:sp>
        <p:nvSpPr>
          <p:cNvPr id="224" name="Google Shape;224;p29"/>
          <p:cNvSpPr txBox="1"/>
          <p:nvPr/>
        </p:nvSpPr>
        <p:spPr>
          <a:xfrm>
            <a:off x="6677025" y="5296602"/>
            <a:ext cx="4648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DigiClone doesn't just store data; it interprets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known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events for lenders, investors, and partners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 various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cases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Also, pay attention to how the data is used.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One Business, One Agent</a:t>
            </a:r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571500" y="571500"/>
            <a:ext cx="47700" cy="571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3950" y="1207425"/>
            <a:ext cx="8118058" cy="3176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1541800" y="1449600"/>
            <a:ext cx="10468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Infinite Memory:</a:t>
            </a: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Never forgets or overwrites. Continuously ingests text, vid</a:t>
            </a:r>
            <a:r>
              <a:rPr lang="en-US" sz="2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eo, images</a:t>
            </a: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S</a:t>
            </a:r>
            <a:r>
              <a:rPr lang="en-US" sz="2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tores only relevant content.</a:t>
            </a:r>
            <a:endParaRPr sz="2300"/>
          </a:p>
        </p:txBody>
      </p:sp>
      <p:sp>
        <p:nvSpPr>
          <p:cNvPr id="234" name="Google Shape;234;p30"/>
          <p:cNvSpPr txBox="1"/>
          <p:nvPr/>
        </p:nvSpPr>
        <p:spPr>
          <a:xfrm>
            <a:off x="1489600" y="3110049"/>
            <a:ext cx="10572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Dynamic Persona:</a:t>
            </a: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Adapts output based on intent. One source, many stakeholder views.</a:t>
            </a:r>
            <a:endParaRPr sz="2300"/>
          </a:p>
        </p:txBody>
      </p:sp>
      <p:sp>
        <p:nvSpPr>
          <p:cNvPr id="235" name="Google Shape;235;p30"/>
          <p:cNvSpPr txBox="1"/>
          <p:nvPr/>
        </p:nvSpPr>
        <p:spPr>
          <a:xfrm>
            <a:off x="1489600" y="4770487"/>
            <a:ext cx="10572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Universal Access:</a:t>
            </a: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Served via single API/MCP points for seamless enterprise integration.</a:t>
            </a:r>
            <a:endParaRPr sz="2300"/>
          </a:p>
        </p:txBody>
      </p:sp>
      <p:pic>
        <p:nvPicPr>
          <p:cNvPr descr="image.png" id="236" name="Google Shape;2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925" y="1487699"/>
            <a:ext cx="596786" cy="64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700" y="3304600"/>
            <a:ext cx="65943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25" y="4867359"/>
            <a:ext cx="447586" cy="64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Platform Capabilities</a:t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571500" y="571500"/>
            <a:ext cx="47700" cy="571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/>
        </p:nvSpPr>
        <p:spPr>
          <a:xfrm>
            <a:off x="866775" y="3438525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Anti-Enshittification</a:t>
            </a:r>
            <a:endParaRPr/>
          </a:p>
        </p:txBody>
      </p:sp>
      <p:sp>
        <p:nvSpPr>
          <p:cNvPr id="250" name="Google Shape;250;p31"/>
          <p:cNvSpPr txBox="1"/>
          <p:nvPr/>
        </p:nvSpPr>
        <p:spPr>
          <a:xfrm>
            <a:off x="866775" y="3914775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Decentralized model prevents value extraction by a single platform owner.</a:t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4645074" y="3438525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Value Back to Source</a:t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4645074" y="3914775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Businesses receive a share of the monetization when their intelligence is accessed.</a:t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8423374" y="3438525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Network Effects</a:t>
            </a:r>
            <a:endParaRPr/>
          </a:p>
        </p:txBody>
      </p:sp>
      <p:sp>
        <p:nvSpPr>
          <p:cNvPr id="254" name="Google Shape;254;p31"/>
          <p:cNvSpPr txBox="1"/>
          <p:nvPr/>
        </p:nvSpPr>
        <p:spPr>
          <a:xfrm>
            <a:off x="8423374" y="3914775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more businesses sign-up, industry-wide high-fidelity intelligence compounds.</a:t>
            </a:r>
            <a:endParaRPr/>
          </a:p>
        </p:txBody>
      </p:sp>
      <p:pic>
        <p:nvPicPr>
          <p:cNvPr descr="image.png" id="255" name="Google Shape;25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the Co-op Model?</a:t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571500" y="571500"/>
            <a:ext cx="47700" cy="571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4191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71650"/>
            <a:ext cx="4171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/>
          <p:nvPr/>
        </p:nvSpPr>
        <p:spPr>
          <a:xfrm>
            <a:off x="5763175" y="2885925"/>
            <a:ext cx="581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Competitive Edge: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Monitor self and competitor footprints.</a:t>
            </a:r>
            <a:endParaRPr sz="1900"/>
          </a:p>
        </p:txBody>
      </p:sp>
      <p:sp>
        <p:nvSpPr>
          <p:cNvPr id="268" name="Google Shape;268;p32"/>
          <p:cNvSpPr txBox="1"/>
          <p:nvPr/>
        </p:nvSpPr>
        <p:spPr>
          <a:xfrm>
            <a:off x="5763175" y="4039500"/>
            <a:ext cx="581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Clarity: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See exactly what others see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 E.g: What 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banks see during loan applications.</a:t>
            </a:r>
            <a:endParaRPr sz="1900"/>
          </a:p>
        </p:txBody>
      </p:sp>
      <p:sp>
        <p:nvSpPr>
          <p:cNvPr id="269" name="Google Shape;269;p32"/>
          <p:cNvSpPr txBox="1"/>
          <p:nvPr/>
        </p:nvSpPr>
        <p:spPr>
          <a:xfrm>
            <a:off x="5763175" y="5193075"/>
            <a:ext cx="581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Data Auditability: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Correct digital errors and ensure footprint authenticity.</a:t>
            </a:r>
            <a:endParaRPr sz="2000"/>
          </a:p>
        </p:txBody>
      </p:sp>
      <p:sp>
        <p:nvSpPr>
          <p:cNvPr id="270" name="Google Shape;270;p32"/>
          <p:cNvSpPr txBox="1"/>
          <p:nvPr/>
        </p:nvSpPr>
        <p:spPr>
          <a:xfrm>
            <a:off x="5763175" y="1732350"/>
            <a:ext cx="581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All Data in One Place</a:t>
            </a:r>
            <a:r>
              <a:rPr b="1" i="0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Gathering digital footprint across all platforms is technically challenging.</a:t>
            </a:r>
            <a:endParaRPr sz="2000"/>
          </a:p>
        </p:txBody>
      </p:sp>
      <p:sp>
        <p:nvSpPr>
          <p:cNvPr id="271" name="Google Shape;271;p3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should businesses sign up?</a:t>
            </a:r>
            <a:endParaRPr/>
          </a:p>
        </p:txBody>
      </p:sp>
      <p:sp>
        <p:nvSpPr>
          <p:cNvPr id="272" name="Google Shape;272;p32"/>
          <p:cNvSpPr/>
          <p:nvPr/>
        </p:nvSpPr>
        <p:spPr>
          <a:xfrm>
            <a:off x="571500" y="571500"/>
            <a:ext cx="47700" cy="571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547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05000"/>
            <a:ext cx="5219699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/>
        </p:nvSpPr>
        <p:spPr>
          <a:xfrm>
            <a:off x="6381750" y="1905148"/>
            <a:ext cx="523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Lending Intelligence: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Banks identify early</a:t>
            </a:r>
            <a:r>
              <a:rPr lang="en-US" sz="20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delinquency signals from unstructured data.</a:t>
            </a:r>
            <a:endParaRPr sz="2000"/>
          </a:p>
        </p:txBody>
      </p:sp>
      <p:sp>
        <p:nvSpPr>
          <p:cNvPr id="281" name="Google Shape;281;p33"/>
          <p:cNvSpPr txBox="1"/>
          <p:nvPr/>
        </p:nvSpPr>
        <p:spPr>
          <a:xfrm>
            <a:off x="6381750" y="3060467"/>
            <a:ext cx="523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Investment Edge: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Analysts uncover hidden fragility markers and macro-risk profiles.</a:t>
            </a:r>
            <a:endParaRPr sz="2000"/>
          </a:p>
        </p:txBody>
      </p:sp>
      <p:sp>
        <p:nvSpPr>
          <p:cNvPr id="282" name="Google Shape;282;p33"/>
          <p:cNvSpPr txBox="1"/>
          <p:nvPr/>
        </p:nvSpPr>
        <p:spPr>
          <a:xfrm>
            <a:off x="6381750" y="4215775"/>
            <a:ext cx="523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Vendor Monitoring: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Government agencies track suppliers for </a:t>
            </a:r>
            <a:r>
              <a:rPr lang="en-US" sz="20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risk and reputation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/>
          </a:p>
        </p:txBody>
      </p:sp>
      <p:sp>
        <p:nvSpPr>
          <p:cNvPr id="283" name="Google Shape;283;p33"/>
          <p:cNvSpPr txBox="1"/>
          <p:nvPr/>
        </p:nvSpPr>
        <p:spPr>
          <a:xfrm>
            <a:off x="6381750" y="5353455"/>
            <a:ext cx="523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Sales Prospecting: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Tech firms identify tech stack shifts and predict product-fit.</a:t>
            </a:r>
            <a:endParaRPr sz="2000"/>
          </a:p>
        </p:txBody>
      </p:sp>
      <p:sp>
        <p:nvSpPr>
          <p:cNvPr id="284" name="Google Shape;284;p33"/>
          <p:cNvSpPr txBox="1"/>
          <p:nvPr/>
        </p:nvSpPr>
        <p:spPr>
          <a:xfrm>
            <a:off x="795000" y="557100"/>
            <a:ext cx="998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should users sign up?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571500" y="571500"/>
            <a:ext cx="47700" cy="571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96479"/>
            <a:ext cx="5286375" cy="4522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8043"/>
            <a:ext cx="5286375" cy="18335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 txBox="1"/>
          <p:nvPr/>
        </p:nvSpPr>
        <p:spPr>
          <a:xfrm>
            <a:off x="571500" y="2664618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Intelligence flows from raw sources through </a:t>
            </a:r>
            <a:r>
              <a:rPr b="1" i="0" lang="en-US" sz="1425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Industry Clustes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end users via advanced protocols.</a:t>
            </a:r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866775" y="3874293"/>
            <a:ext cx="46958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Clusters: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Restaurants, Hotels, Hospitals, Tech Cos.</a:t>
            </a:r>
            <a:endParaRPr/>
          </a:p>
        </p:txBody>
      </p:sp>
      <p:sp>
        <p:nvSpPr>
          <p:cNvPr id="295" name="Google Shape;295;p34"/>
          <p:cNvSpPr txBox="1"/>
          <p:nvPr/>
        </p:nvSpPr>
        <p:spPr>
          <a:xfrm>
            <a:off x="866775" y="4326731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data is thin for a single business, the Industry DigiClone provides sector-level intelligence.</a:t>
            </a:r>
            <a:endParaRPr/>
          </a:p>
        </p:txBody>
      </p:sp>
      <p:sp>
        <p:nvSpPr>
          <p:cNvPr id="296" name="Google Shape;296;p34"/>
          <p:cNvSpPr txBox="1"/>
          <p:nvPr/>
        </p:nvSpPr>
        <p:spPr>
          <a:xfrm>
            <a:off x="762000" y="571500"/>
            <a:ext cx="11401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Architecture: User View</a:t>
            </a:r>
            <a:endParaRPr/>
          </a:p>
        </p:txBody>
      </p:sp>
      <p:sp>
        <p:nvSpPr>
          <p:cNvPr id="297" name="Google Shape;297;p3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34" title="Gemini_Generated_Image_scc80scc80scc80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148910"/>
            <a:ext cx="10180152" cy="5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4"/>
          <p:cNvSpPr txBox="1"/>
          <p:nvPr/>
        </p:nvSpPr>
        <p:spPr>
          <a:xfrm>
            <a:off x="388200" y="1117522"/>
            <a:ext cx="7305000" cy="5238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 txBox="1"/>
          <p:nvPr/>
        </p:nvSpPr>
        <p:spPr>
          <a:xfrm>
            <a:off x="866775" y="3874293"/>
            <a:ext cx="4695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Clusters: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Restaurants, Htels, Hospitals, Tech Cs.</a:t>
            </a:r>
            <a:endParaRPr/>
          </a:p>
        </p:txBody>
      </p:sp>
      <p:sp>
        <p:nvSpPr>
          <p:cNvPr id="306" name="Google Shape;306;p35"/>
          <p:cNvSpPr txBox="1"/>
          <p:nvPr/>
        </p:nvSpPr>
        <p:spPr>
          <a:xfrm>
            <a:off x="866775" y="4326731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data is thin for a sngle business, the Industry DigiClone provides sector-level intelligence.</a:t>
            </a:r>
            <a:endParaRPr/>
          </a:p>
        </p:txBody>
      </p:sp>
      <p:sp>
        <p:nvSpPr>
          <p:cNvPr id="307" name="Google Shape;307;p3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Architecture: How B</a:t>
            </a: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usinesses view their own data</a:t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388200" y="1117522"/>
            <a:ext cx="7305000" cy="5238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305850" y="1073750"/>
            <a:ext cx="7305000" cy="4617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00" y="1095301"/>
            <a:ext cx="10428700" cy="56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5"/>
          <p:cNvSpPr txBox="1"/>
          <p:nvPr/>
        </p:nvSpPr>
        <p:spPr>
          <a:xfrm>
            <a:off x="388200" y="1105753"/>
            <a:ext cx="10786800" cy="4296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7400"/>
            <a:ext cx="5684051" cy="387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0312" y="2433637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6"/>
          <p:cNvSpPr txBox="1"/>
          <p:nvPr/>
        </p:nvSpPr>
        <p:spPr>
          <a:xfrm>
            <a:off x="571500" y="4148137"/>
            <a:ext cx="55506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4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LLM + RAG Architecture</a:t>
            </a:r>
            <a:endParaRPr sz="2400"/>
          </a:p>
        </p:txBody>
      </p:sp>
      <p:sp>
        <p:nvSpPr>
          <p:cNvPr id="321" name="Google Shape;321;p36"/>
          <p:cNvSpPr txBox="1"/>
          <p:nvPr/>
        </p:nvSpPr>
        <p:spPr>
          <a:xfrm>
            <a:off x="571500" y="4557712"/>
            <a:ext cx="52863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DigiClone sits on a multi-modal foundation that include  JSON records, Markdown summaries, and time-series BigQuery </a:t>
            </a:r>
            <a:r>
              <a:rPr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and vector databases</a:t>
            </a: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000"/>
          </a:p>
        </p:txBody>
      </p:sp>
      <p:pic>
        <p:nvPicPr>
          <p:cNvPr descr="image.png" id="322" name="Google Shape;32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9944" y="1916894"/>
            <a:ext cx="2130525" cy="21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6"/>
          <p:cNvSpPr txBox="1"/>
          <p:nvPr/>
        </p:nvSpPr>
        <p:spPr>
          <a:xfrm>
            <a:off x="6962775" y="2505075"/>
            <a:ext cx="436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Source Citation: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Every answer links to verifiable data sources.</a:t>
            </a:r>
            <a:endParaRPr sz="1800"/>
          </a:p>
        </p:txBody>
      </p:sp>
      <p:sp>
        <p:nvSpPr>
          <p:cNvPr id="324" name="Google Shape;324;p36"/>
          <p:cNvSpPr txBox="1"/>
          <p:nvPr/>
        </p:nvSpPr>
        <p:spPr>
          <a:xfrm>
            <a:off x="6962775" y="3354725"/>
            <a:ext cx="436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High Frequency</a:t>
            </a: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 Refresh: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Looks for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digital footprints daily or less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/>
          </a:p>
        </p:txBody>
      </p:sp>
      <p:sp>
        <p:nvSpPr>
          <p:cNvPr id="325" name="Google Shape;325;p36"/>
          <p:cNvSpPr txBox="1"/>
          <p:nvPr/>
        </p:nvSpPr>
        <p:spPr>
          <a:xfrm>
            <a:off x="6962775" y="4204375"/>
            <a:ext cx="436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Agentic Actions: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Autonomous alert generation and  summary reports.</a:t>
            </a:r>
            <a:endParaRPr sz="1800"/>
          </a:p>
        </p:txBody>
      </p:sp>
      <p:sp>
        <p:nvSpPr>
          <p:cNvPr id="326" name="Google Shape;326;p36"/>
          <p:cNvSpPr txBox="1"/>
          <p:nvPr/>
        </p:nvSpPr>
        <p:spPr>
          <a:xfrm>
            <a:off x="6962775" y="5059915"/>
            <a:ext cx="4362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Behavior scoring</a:t>
            </a: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100% auditable history of quantifi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ed behavioral score.</a:t>
            </a:r>
            <a:endParaRPr sz="1800"/>
          </a:p>
        </p:txBody>
      </p:sp>
      <p:sp>
        <p:nvSpPr>
          <p:cNvPr id="327" name="Google Shape;327;p3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Inside the DigiClone AI</a:t>
            </a: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6152" y="4242276"/>
            <a:ext cx="244225" cy="257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6154" y="5059928"/>
            <a:ext cx="244221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6141" y="3424616"/>
            <a:ext cx="244225" cy="257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6152" y="2562507"/>
            <a:ext cx="244225" cy="257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0262"/>
            <a:ext cx="528637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0262"/>
            <a:ext cx="52863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7"/>
          <p:cNvSpPr txBox="1"/>
          <p:nvPr/>
        </p:nvSpPr>
        <p:spPr>
          <a:xfrm>
            <a:off x="571500" y="4891087"/>
            <a:ext cx="11049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"Agent-to-Agent communication via MCP enables autonomous business agents and user agents to interact with DigiClones—no human required."</a:t>
            </a:r>
            <a:endParaRPr sz="2000"/>
          </a:p>
        </p:txBody>
      </p:sp>
      <p:sp>
        <p:nvSpPr>
          <p:cNvPr id="341" name="Google Shape;341;p37"/>
          <p:cNvSpPr txBox="1"/>
          <p:nvPr/>
        </p:nvSpPr>
        <p:spPr>
          <a:xfrm>
            <a:off x="866775" y="2395537"/>
            <a:ext cx="493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Intelligence Layer</a:t>
            </a:r>
            <a:endParaRPr sz="2000"/>
          </a:p>
        </p:txBody>
      </p:sp>
      <p:sp>
        <p:nvSpPr>
          <p:cNvPr id="342" name="Google Shape;342;p37"/>
          <p:cNvSpPr txBox="1"/>
          <p:nvPr/>
        </p:nvSpPr>
        <p:spPr>
          <a:xfrm>
            <a:off x="866775" y="2862262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Vertex AI &amp; Gemini: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Orchestrating the DigiClone agents and LLM validation.</a:t>
            </a:r>
            <a:endParaRPr sz="1800"/>
          </a:p>
        </p:txBody>
      </p:sp>
      <p:sp>
        <p:nvSpPr>
          <p:cNvPr id="343" name="Google Shape;343;p37"/>
          <p:cNvSpPr txBox="1"/>
          <p:nvPr/>
        </p:nvSpPr>
        <p:spPr>
          <a:xfrm>
            <a:off x="866738" y="3735937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BigQuery: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Storing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relevant information for downstream RAG use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/>
          </a:p>
        </p:txBody>
      </p:sp>
      <p:sp>
        <p:nvSpPr>
          <p:cNvPr id="344" name="Google Shape;344;p37"/>
          <p:cNvSpPr txBox="1"/>
          <p:nvPr/>
        </p:nvSpPr>
        <p:spPr>
          <a:xfrm>
            <a:off x="6629400" y="2395537"/>
            <a:ext cx="493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Connectivity Layer</a:t>
            </a:r>
            <a:endParaRPr sz="2000"/>
          </a:p>
        </p:txBody>
      </p:sp>
      <p:sp>
        <p:nvSpPr>
          <p:cNvPr id="345" name="Google Shape;345;p37"/>
          <p:cNvSpPr txBox="1"/>
          <p:nvPr/>
        </p:nvSpPr>
        <p:spPr>
          <a:xfrm>
            <a:off x="6629400" y="2862262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MCP Protocol: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Enabling Model Context Protocol for seamless data retrieval.</a:t>
            </a:r>
            <a:endParaRPr sz="1800"/>
          </a:p>
        </p:txBody>
      </p:sp>
      <p:sp>
        <p:nvSpPr>
          <p:cNvPr id="346" name="Google Shape;346;p37"/>
          <p:cNvSpPr txBox="1"/>
          <p:nvPr/>
        </p:nvSpPr>
        <p:spPr>
          <a:xfrm>
            <a:off x="6629363" y="3735937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API Hub: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REST endpoints for external bank and analyst tools.</a:t>
            </a:r>
            <a:endParaRPr sz="1800"/>
          </a:p>
        </p:txBody>
      </p:sp>
      <p:sp>
        <p:nvSpPr>
          <p:cNvPr id="347" name="Google Shape;347;p3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 Stack: Powered by GCP</a:t>
            </a:r>
            <a:endParaRPr/>
          </a:p>
        </p:txBody>
      </p:sp>
      <p:sp>
        <p:nvSpPr>
          <p:cNvPr id="348" name="Google Shape;348;p3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8"/>
          <p:cNvSpPr txBox="1"/>
          <p:nvPr/>
        </p:nvSpPr>
        <p:spPr>
          <a:xfrm>
            <a:off x="1595412" y="2620475"/>
            <a:ext cx="900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POC- Restaurant </a:t>
            </a:r>
            <a:r>
              <a:rPr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Use Case</a:t>
            </a:r>
            <a:r>
              <a:rPr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in City of Orange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0262"/>
            <a:ext cx="5286375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0262"/>
            <a:ext cx="5286375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 txBox="1"/>
          <p:nvPr/>
        </p:nvSpPr>
        <p:spPr>
          <a:xfrm>
            <a:off x="571500" y="4891087"/>
            <a:ext cx="11049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"Agent-to-Agent communication via MCP enables autonomous business agents and user agents to interact with DigiClones—no human required."</a:t>
            </a:r>
            <a:endParaRPr sz="2000"/>
          </a:p>
        </p:txBody>
      </p:sp>
      <p:sp>
        <p:nvSpPr>
          <p:cNvPr id="363" name="Google Shape;363;p39"/>
          <p:cNvSpPr txBox="1"/>
          <p:nvPr/>
        </p:nvSpPr>
        <p:spPr>
          <a:xfrm>
            <a:off x="866775" y="2395537"/>
            <a:ext cx="493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Intelligence Layer</a:t>
            </a:r>
            <a:endParaRPr sz="2000"/>
          </a:p>
        </p:txBody>
      </p:sp>
      <p:sp>
        <p:nvSpPr>
          <p:cNvPr id="364" name="Google Shape;364;p39"/>
          <p:cNvSpPr txBox="1"/>
          <p:nvPr/>
        </p:nvSpPr>
        <p:spPr>
          <a:xfrm>
            <a:off x="866775" y="2862262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Vertex AI &amp; Gemini: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Orchestrating the DigiClone agents and LLM validation.</a:t>
            </a:r>
            <a:endParaRPr sz="1800"/>
          </a:p>
        </p:txBody>
      </p:sp>
      <p:sp>
        <p:nvSpPr>
          <p:cNvPr id="365" name="Google Shape;365;p39"/>
          <p:cNvSpPr txBox="1"/>
          <p:nvPr/>
        </p:nvSpPr>
        <p:spPr>
          <a:xfrm>
            <a:off x="866738" y="3735937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BigQuery: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Storing 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relevant information for downstream RAG use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/>
          </a:p>
        </p:txBody>
      </p:sp>
      <p:sp>
        <p:nvSpPr>
          <p:cNvPr id="366" name="Google Shape;366;p39"/>
          <p:cNvSpPr txBox="1"/>
          <p:nvPr/>
        </p:nvSpPr>
        <p:spPr>
          <a:xfrm>
            <a:off x="6629400" y="2395537"/>
            <a:ext cx="493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285F4"/>
                </a:solidFill>
                <a:latin typeface="Outfit"/>
                <a:ea typeface="Outfit"/>
                <a:cs typeface="Outfit"/>
                <a:sym typeface="Outfit"/>
              </a:rPr>
              <a:t>Connectivity Layer</a:t>
            </a:r>
            <a:endParaRPr sz="2000"/>
          </a:p>
        </p:txBody>
      </p:sp>
      <p:sp>
        <p:nvSpPr>
          <p:cNvPr id="367" name="Google Shape;367;p39"/>
          <p:cNvSpPr txBox="1"/>
          <p:nvPr/>
        </p:nvSpPr>
        <p:spPr>
          <a:xfrm>
            <a:off x="6629400" y="2862262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MCP Protocol: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Enabling Model Context Protocol for seamless data retrieval.</a:t>
            </a:r>
            <a:endParaRPr sz="1800"/>
          </a:p>
        </p:txBody>
      </p:sp>
      <p:sp>
        <p:nvSpPr>
          <p:cNvPr id="368" name="Google Shape;368;p39"/>
          <p:cNvSpPr txBox="1"/>
          <p:nvPr/>
        </p:nvSpPr>
        <p:spPr>
          <a:xfrm>
            <a:off x="6629363" y="3735937"/>
            <a:ext cx="469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285F4"/>
                </a:solidFill>
                <a:latin typeface="Urbanist"/>
                <a:ea typeface="Urbanist"/>
                <a:cs typeface="Urbanist"/>
                <a:sym typeface="Urbanist"/>
              </a:rPr>
              <a:t>API Hub: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REST endpoints for external bank and analyst tools.</a:t>
            </a:r>
            <a:endParaRPr sz="1800"/>
          </a:p>
        </p:txBody>
      </p:sp>
      <p:sp>
        <p:nvSpPr>
          <p:cNvPr id="369" name="Google Shape;369;p39"/>
          <p:cNvSpPr txBox="1"/>
          <p:nvPr/>
        </p:nvSpPr>
        <p:spPr>
          <a:xfrm>
            <a:off x="790500" y="2049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POC: Data Pipeline- </a:t>
            </a: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High Level</a:t>
            </a: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Architecture</a:t>
            </a: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571500" y="189050"/>
            <a:ext cx="57300" cy="523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138" y="1079400"/>
            <a:ext cx="11709727" cy="555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/>
        </p:nvSpPr>
        <p:spPr>
          <a:xfrm>
            <a:off x="790500" y="2049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POC: Execution Pipeline</a:t>
            </a:r>
            <a:endParaRPr/>
          </a:p>
        </p:txBody>
      </p:sp>
      <p:sp>
        <p:nvSpPr>
          <p:cNvPr id="377" name="Google Shape;377;p40"/>
          <p:cNvSpPr/>
          <p:nvPr/>
        </p:nvSpPr>
        <p:spPr>
          <a:xfrm>
            <a:off x="571500" y="189050"/>
            <a:ext cx="57300" cy="523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00" y="845925"/>
            <a:ext cx="11480151" cy="591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/>
        </p:nvSpPr>
        <p:spPr>
          <a:xfrm>
            <a:off x="790500" y="2049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POC: Pipeline Sequential Diagram </a:t>
            </a:r>
            <a:endParaRPr/>
          </a:p>
        </p:txBody>
      </p:sp>
      <p:sp>
        <p:nvSpPr>
          <p:cNvPr id="384" name="Google Shape;384;p41"/>
          <p:cNvSpPr/>
          <p:nvPr/>
        </p:nvSpPr>
        <p:spPr>
          <a:xfrm>
            <a:off x="571500" y="189050"/>
            <a:ext cx="57300" cy="523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00" y="855600"/>
            <a:ext cx="10684075" cy="584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2"/>
          <p:cNvSpPr txBox="1"/>
          <p:nvPr/>
        </p:nvSpPr>
        <p:spPr>
          <a:xfrm>
            <a:off x="1595412" y="2620475"/>
            <a:ext cx="90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DEMO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/>
          <p:nvPr/>
        </p:nvSpPr>
        <p:spPr>
          <a:xfrm>
            <a:off x="1105587" y="12667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Orange</a:t>
            </a: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</a:t>
            </a: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Restaurants</a:t>
            </a: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POC: json source</a:t>
            </a:r>
            <a:endParaRPr sz="2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398" name="Google Shape;39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414" y="810575"/>
            <a:ext cx="7143525" cy="58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4"/>
          <p:cNvSpPr txBox="1"/>
          <p:nvPr/>
        </p:nvSpPr>
        <p:spPr>
          <a:xfrm>
            <a:off x="1105587" y="12667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Cloud Scheduler(Crontab) Runs daily at 7pm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405" name="Google Shape;40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850" y="911550"/>
            <a:ext cx="5448300" cy="53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5"/>
          <p:cNvSpPr txBox="1"/>
          <p:nvPr/>
        </p:nvSpPr>
        <p:spPr>
          <a:xfrm>
            <a:off x="1105587" y="12667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Cloud Run Functions: Agents 1-3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412" name="Google Shape;41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900" y="1256200"/>
            <a:ext cx="9667825" cy="41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6"/>
          <p:cNvSpPr txBox="1"/>
          <p:nvPr/>
        </p:nvSpPr>
        <p:spPr>
          <a:xfrm>
            <a:off x="1105587" y="12667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Agent1- Source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419" name="Google Shape;4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750" y="897638"/>
            <a:ext cx="10515600" cy="58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7"/>
          <p:cNvSpPr txBox="1"/>
          <p:nvPr/>
        </p:nvSpPr>
        <p:spPr>
          <a:xfrm>
            <a:off x="1105587" y="126675"/>
            <a:ext cx="90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Looker Report: Business view</a:t>
            </a:r>
            <a:endParaRPr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426" name="Google Shape;42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63" y="1338263"/>
            <a:ext cx="10582275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1" name="Google Shape;43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8"/>
          <p:cNvSpPr txBox="1"/>
          <p:nvPr/>
        </p:nvSpPr>
        <p:spPr>
          <a:xfrm>
            <a:off x="1105587" y="126675"/>
            <a:ext cx="9001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Looker Report: User View (Banker- Lending Risk Assessment)</a:t>
            </a:r>
            <a:endParaRPr sz="2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pic>
        <p:nvPicPr>
          <p:cNvPr id="433" name="Google Shape;43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225" y="1065050"/>
            <a:ext cx="10004500" cy="54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